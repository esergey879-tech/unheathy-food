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12192000" cy="6858000"/>
  <p:defaultTextStyle>
    <a:defPPr>
      <a:defRPr lang="zh-CN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7" d="100"/>
          <a:sy n="117" d="100"/>
        </p:scale>
        <p:origin x="510" y="102"/>
      </p:cViewPr>
      <p:guideLst>
        <p:guide pos="2159" orient="horz"/>
        <p:guide pos="3840"/>
      </p:guideLst>
    </p:cSldViewPr>
  </p:slideViewPr>
  <p:gridSpacing cx="72000" cy="720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latin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Date Placeholder 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1">
                <a:latin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 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1850" y="3750945"/>
            <a:ext cx="9843135" cy="81153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610028"/>
            <a:ext cx="7321550" cy="647555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3pPr>
            <a:lvl4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4pPr>
            <a:lvl5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cs typeface="Calibri Light"/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lang="en-US" sz="2800" b="0" i="0" u="none" strike="noStrike" cap="none" spc="0">
                <a:solidFill>
                  <a:schemeClr val="tx1">
                    <a:lumMod val="75000"/>
                    <a:lumOff val="25000"/>
                  </a:schemeClr>
                </a:solidFill>
                <a:latin typeface="Calibri Light"/>
                <a:ea typeface="+mn-ea"/>
                <a:cs typeface="+mn-cs"/>
              </a:defRPr>
            </a:lvl1pPr>
            <a:lvl2pPr>
              <a:lnSpc>
                <a:spcPct val="15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>
            <a:lvl1pPr>
              <a:defRPr sz="4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/>
                <a:cs typeface="Calibri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615609"/>
            <a:ext cx="5157787" cy="357405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alibri Light"/>
                <a:cs typeface="Calibri Ligh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 bwMode="auto">
          <a:xfrm>
            <a:off x="6172200" y="2615609"/>
            <a:ext cx="5183188" cy="3574054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latin typeface="Calibri Light"/>
                <a:cs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latin typeface="Calibri Light"/>
                <a:cs typeface="Calibri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9EFD9D74-47D9-4702-A33C-335B63B48DBF}" type="datetimeFigureOut">
              <a:rPr lang="en-US"/>
              <a:t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FABC47A4-756D-490B-A52F-7D9E2C9FC05F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8879958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 bwMode="auto">
          <a:xfrm>
            <a:off x="838200" y="551543"/>
            <a:ext cx="10515600" cy="5558971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Char char="•"/>
              <a:defRPr/>
            </a:pPr>
            <a:r>
              <a:rPr lang="en-US"/>
              <a:t>Click to edit Master text styles</a:t>
            </a:r>
            <a:endParaRPr lang="en-US"/>
          </a:p>
          <a:p>
            <a:pPr lvl="1">
              <a:defRPr/>
            </a:pPr>
            <a:r>
              <a:rPr lang="en-US"/>
              <a:t>Second level</a:t>
            </a:r>
            <a:endParaRPr lang="en-US"/>
          </a:p>
          <a:p>
            <a:pPr lvl="2">
              <a:defRPr/>
            </a:pPr>
            <a:r>
              <a:rPr lang="en-US"/>
              <a:t>Third level</a:t>
            </a:r>
            <a:endParaRPr lang="en-US"/>
          </a:p>
          <a:p>
            <a:pPr lvl="3">
              <a:defRPr/>
            </a:pPr>
            <a:r>
              <a:rPr lang="en-US"/>
              <a:t>Fourth level</a:t>
            </a:r>
            <a:endParaRPr lang="en-US"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60FBDFE-C587-4B4C-A407-44438C67B59E}" type="datetimeFigureOut">
              <a:rPr lang="en-US"/>
              <a:t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libri Light"/>
                <a:cs typeface="Calibri Ligh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libri Light"/>
                <a:cs typeface="Calibri Light"/>
              </a:defRPr>
            </a:lvl1pPr>
          </a:lstStyle>
          <a:p>
            <a:pPr>
              <a:defRPr/>
            </a:pPr>
            <a:fld id="{49AE70B2-8BF9-45C0-BB95-33D1B9D3A854}" type="slidenum">
              <a:rPr lang="en-US"/>
              <a:t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000">
          <a:solidFill>
            <a:schemeClr val="tx1"/>
          </a:solidFill>
          <a:latin typeface="Calibri Light"/>
          <a:ea typeface="+mj-ea"/>
          <a:cs typeface="+mj-cs"/>
        </a:defRPr>
      </a:lvl1pPr>
    </p:titleStyle>
    <p:bodyStyle>
      <a:lvl1pPr marL="0" marR="0" indent="0" algn="l" defTabSz="914400">
        <a:lnSpc>
          <a:spcPct val="90000"/>
        </a:lnSpc>
        <a:spcBef>
          <a:spcPts val="1000"/>
        </a:spcBef>
        <a:spcAft>
          <a:spcPts val="0"/>
        </a:spcAft>
        <a:buClrTx/>
        <a:buSzTx/>
        <a:buFont typeface="Arial"/>
        <a:buNone/>
        <a:defRPr sz="2800" b="0">
          <a:solidFill>
            <a:schemeClr val="tx1"/>
          </a:solidFill>
          <a:latin typeface="Calibri Ligh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Calibri Ligh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Calibri Light"/>
          <a:ea typeface="+mn-ea"/>
          <a:cs typeface="Calibri Ligh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Calibri Light"/>
          <a:ea typeface="+mn-ea"/>
          <a:cs typeface="Calibri Ligh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Calibri Light"/>
          <a:ea typeface="+mn-ea"/>
          <a:cs typeface="Calibri Ligh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 flipH="0" flipV="0">
            <a:off x="1343342" y="1746250"/>
            <a:ext cx="9505315" cy="1443037"/>
          </a:xfrm>
        </p:spPr>
        <p:txBody>
          <a:bodyPr vertOverflow="overflow" horzOverflow="overflow" vert="horz" wrap="square" lIns="91440" tIns="45720" rIns="91440" bIns="45720" numCol="1" spcCol="0" rtlCol="0" fromWordArt="0" anchor="b" anchorCtr="0" forceAA="0" upright="0" compatLnSpc="0">
            <a:normAutofit/>
          </a:bodyPr>
          <a:lstStyle/>
          <a:p>
            <a:pPr>
              <a:defRPr/>
            </a:pPr>
            <a:r>
              <a:rPr lang="ru-RU" sz="5350"/>
              <a:t>Вредная еда </a:t>
            </a:r>
            <a:endParaRPr lang="ru-RU" sz="535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 bwMode="auto">
          <a:xfrm>
            <a:off x="1524000" y="92710"/>
            <a:ext cx="9144000" cy="800100"/>
          </a:xfrm>
        </p:spPr>
        <p:txBody>
          <a:bodyPr/>
          <a:lstStyle/>
          <a:p>
            <a:pPr>
              <a:defRPr/>
            </a:pPr>
            <a:r>
              <a:rPr lang="en-US" sz="2000">
                <a:solidFill>
                  <a:schemeClr val="tx1"/>
                </a:solidFill>
              </a:rPr>
              <a:t>Государственное</a:t>
            </a:r>
            <a:r>
              <a:rPr lang="en-US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бюджетное</a:t>
            </a:r>
            <a:r>
              <a:rPr lang="en-US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общеобразовательное</a:t>
            </a:r>
            <a:r>
              <a:rPr lang="en-US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учреждение</a:t>
            </a:r>
            <a:r>
              <a:rPr lang="en-US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города</a:t>
            </a:r>
            <a:r>
              <a:rPr lang="en-US" sz="2000">
                <a:solidFill>
                  <a:schemeClr val="tx1"/>
                </a:solidFill>
              </a:rPr>
              <a:t> </a:t>
            </a:r>
            <a:r>
              <a:rPr lang="en-US" sz="2000">
                <a:solidFill>
                  <a:schemeClr val="tx1"/>
                </a:solidFill>
              </a:rPr>
              <a:t>Москвы</a:t>
            </a:r>
            <a:r>
              <a:rPr lang="en-US" sz="2000">
                <a:solidFill>
                  <a:schemeClr val="tx1"/>
                </a:solidFill>
              </a:rPr>
              <a:t> "</a:t>
            </a:r>
            <a:r>
              <a:rPr lang="en-US" sz="2000">
                <a:solidFill>
                  <a:schemeClr val="tx1"/>
                </a:solidFill>
              </a:rPr>
              <a:t>Школа</a:t>
            </a:r>
            <a:r>
              <a:rPr lang="en-US" sz="2000">
                <a:solidFill>
                  <a:schemeClr val="tx1"/>
                </a:solidFill>
              </a:rPr>
              <a:t> N 618"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3" name="Текстовое поле 2"/>
          <p:cNvSpPr txBox="1"/>
          <p:nvPr/>
        </p:nvSpPr>
        <p:spPr bwMode="auto">
          <a:xfrm>
            <a:off x="309245" y="3740785"/>
            <a:ext cx="399351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ru-RU"/>
              <a:t>Авторы проекта </a:t>
            </a:r>
            <a:r>
              <a:rPr lang="en-US"/>
              <a:t>:</a:t>
            </a:r>
            <a:endParaRPr lang="en-US"/>
          </a:p>
          <a:p>
            <a:pPr>
              <a:defRPr/>
            </a:pPr>
            <a:r>
              <a:rPr lang="ru-RU"/>
              <a:t>«7В» класс ГБОУ Школа №618</a:t>
            </a:r>
            <a:endParaRPr lang="ru-RU"/>
          </a:p>
          <a:p>
            <a:pPr>
              <a:defRPr/>
            </a:pPr>
            <a:r>
              <a:rPr lang="ru-RU"/>
              <a:t>Нуриахметов Александр</a:t>
            </a:r>
            <a:endParaRPr lang="ru-RU"/>
          </a:p>
          <a:p>
            <a:pPr>
              <a:defRPr/>
            </a:pPr>
            <a:r>
              <a:rPr lang="ru-RU"/>
              <a:t>Поваляев Богдан</a:t>
            </a:r>
            <a:endParaRPr lang="ru-RU"/>
          </a:p>
          <a:p>
            <a:pPr>
              <a:defRPr/>
            </a:pPr>
            <a:r>
              <a:rPr lang="ru-RU"/>
              <a:t>Егоров Сергей</a:t>
            </a:r>
            <a:endParaRPr lang="ru-RU"/>
          </a:p>
          <a:p>
            <a:pPr>
              <a:defRPr/>
            </a:pPr>
            <a:endParaRPr lang="ru-RU"/>
          </a:p>
        </p:txBody>
      </p:sp>
      <p:sp>
        <p:nvSpPr>
          <p:cNvPr id="4" name="Текстовое поле 3"/>
          <p:cNvSpPr txBox="1"/>
          <p:nvPr/>
        </p:nvSpPr>
        <p:spPr bwMode="auto">
          <a:xfrm>
            <a:off x="309245" y="5494020"/>
            <a:ext cx="42291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ru-RU"/>
              <a:t>Руководитель проекта</a:t>
            </a:r>
            <a:r>
              <a:rPr lang="en-US"/>
              <a:t>:</a:t>
            </a:r>
            <a:endParaRPr lang="ru-RU"/>
          </a:p>
          <a:p>
            <a:pPr>
              <a:defRPr/>
            </a:pPr>
            <a:r>
              <a:rPr lang="ru-RU"/>
              <a:t>Учитель информатики ГБОУ Школа №618</a:t>
            </a:r>
            <a:endParaRPr lang="ru-RU"/>
          </a:p>
          <a:p>
            <a:pPr>
              <a:defRPr/>
            </a:pPr>
            <a:r>
              <a:rPr lang="ru-RU"/>
              <a:t>Баранов Михаил Сергеевич</a:t>
            </a:r>
            <a:endParaRPr lang="ru-RU"/>
          </a:p>
        </p:txBody>
      </p:sp>
      <p:pic>
        <p:nvPicPr>
          <p:cNvPr id="8" name="Изображение 7" descr="Снимок экрана 2026-02-01 14510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11760" y="158750"/>
            <a:ext cx="1586230" cy="1887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2794000" y="258444"/>
            <a:ext cx="5780125" cy="1325880"/>
          </a:xfrm>
        </p:spPr>
        <p:txBody>
          <a:bodyPr>
            <a:noAutofit/>
          </a:bodyPr>
          <a:p>
            <a:pPr>
              <a:defRPr/>
            </a:pPr>
            <a:r>
              <a:rPr lang="ru-RU" sz="5400"/>
              <a:t>АКТУАЛЬНОСТЬ</a:t>
            </a:r>
            <a:endParaRPr lang="ru-RU" sz="540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577215" y="2081530"/>
            <a:ext cx="10515600" cy="4351338"/>
          </a:xfrm>
        </p:spPr>
        <p:txBody>
          <a:bodyPr/>
          <a:p>
            <a:pPr>
              <a:defRPr/>
            </a:pPr>
            <a:r>
              <a:rPr lang="en-US"/>
              <a:t> </a:t>
            </a:r>
            <a:r>
              <a:rPr lang="en-US">
                <a:solidFill>
                  <a:schemeClr val="tx1"/>
                </a:solidFill>
              </a:rPr>
              <a:t>В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современном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мире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актуальна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проблем</a:t>
            </a:r>
            <a:r>
              <a:rPr lang="ru-RU">
                <a:solidFill>
                  <a:schemeClr val="tx1"/>
                </a:solidFill>
              </a:rPr>
              <a:t>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неправильного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питания</a:t>
            </a:r>
            <a:r>
              <a:rPr lang="en-US">
                <a:solidFill>
                  <a:schemeClr val="tx1"/>
                </a:solidFill>
              </a:rPr>
              <a:t>. </a:t>
            </a:r>
            <a:r>
              <a:rPr lang="en-US">
                <a:solidFill>
                  <a:schemeClr val="tx1"/>
                </a:solidFill>
              </a:rPr>
              <a:t>Употребление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вредных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продуктов</a:t>
            </a:r>
            <a:r>
              <a:rPr lang="ru-RU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негативно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сказывается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на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здоровье</a:t>
            </a:r>
            <a:r>
              <a:rPr lang="en-US">
                <a:solidFill>
                  <a:schemeClr val="tx1"/>
                </a:solidFill>
              </a:rPr>
              <a:t>: </a:t>
            </a:r>
            <a:r>
              <a:rPr lang="en-US">
                <a:solidFill>
                  <a:schemeClr val="tx1"/>
                </a:solidFill>
              </a:rPr>
              <a:t>приводит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к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ожирению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</a:rPr>
              <a:t>проблемам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с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желудком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</a:rPr>
              <a:t>сердцем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зубами</a:t>
            </a:r>
            <a:r>
              <a:rPr lang="en-US">
                <a:solidFill>
                  <a:schemeClr val="tx1"/>
                </a:solidFill>
              </a:rPr>
              <a:t>. </a:t>
            </a:r>
            <a:r>
              <a:rPr lang="en-US">
                <a:solidFill>
                  <a:schemeClr val="tx1"/>
                </a:solidFill>
              </a:rPr>
              <a:t>Многие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не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осознают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</a:rPr>
              <a:t>насколько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серьёзными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могут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быть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последствия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регулярного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употребления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фастфуда</a:t>
            </a:r>
            <a:r>
              <a:rPr lang="en-US">
                <a:solidFill>
                  <a:schemeClr val="tx1"/>
                </a:solidFill>
              </a:rPr>
              <a:t>.</a:t>
            </a:r>
            <a:r>
              <a:rPr lang="ru-RU">
                <a:solidFill>
                  <a:schemeClr val="tx1"/>
                </a:solidFill>
              </a:rPr>
              <a:t> Н</a:t>
            </a:r>
            <a:r>
              <a:rPr lang="en-US">
                <a:solidFill>
                  <a:schemeClr val="tx1"/>
                </a:solidFill>
              </a:rPr>
              <a:t>а</a:t>
            </a:r>
            <a:r>
              <a:rPr lang="ru-RU">
                <a:solidFill>
                  <a:schemeClr val="tx1"/>
                </a:solidFill>
              </a:rPr>
              <a:t>ш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ru-RU">
                <a:solidFill>
                  <a:schemeClr val="tx1"/>
                </a:solidFill>
              </a:rPr>
              <a:t>сайт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поможет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понять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</a:rPr>
              <a:t>какие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продукты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вредны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для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здоровья</a:t>
            </a:r>
            <a:r>
              <a:rPr lang="en-US">
                <a:solidFill>
                  <a:schemeClr val="tx1"/>
                </a:solidFill>
              </a:rPr>
              <a:t>, </a:t>
            </a:r>
            <a:r>
              <a:rPr lang="en-US">
                <a:solidFill>
                  <a:schemeClr val="tx1"/>
                </a:solidFill>
              </a:rPr>
              <a:t>почему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они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опасны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чем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их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можно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заменить</a:t>
            </a:r>
            <a:r>
              <a:rPr lang="en-US">
                <a:solidFill>
                  <a:schemeClr val="tx1"/>
                </a:solidFill>
              </a:rPr>
              <a:t>. </a:t>
            </a:r>
            <a:r>
              <a:rPr lang="ru-RU">
                <a:solidFill>
                  <a:schemeClr val="tx1"/>
                </a:solidFill>
              </a:rPr>
              <a:t>В</a:t>
            </a:r>
            <a:r>
              <a:rPr lang="en-US">
                <a:solidFill>
                  <a:schemeClr val="tx1"/>
                </a:solidFill>
              </a:rPr>
              <a:t>ся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информация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будет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представлена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в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доступной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и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интересной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форме</a:t>
            </a:r>
            <a:r>
              <a:rPr lang="en-US">
                <a:solidFill>
                  <a:schemeClr val="tx1"/>
                </a:solidFill>
              </a:rPr>
              <a:t>.</a:t>
            </a: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57505" y="161289"/>
            <a:ext cx="10805795" cy="2004694"/>
          </a:xfrm>
        </p:spPr>
        <p:txBody>
          <a:bodyPr>
            <a:normAutofit/>
          </a:bodyPr>
          <a:p>
            <a:pPr>
              <a:defRPr/>
            </a:pPr>
            <a:r>
              <a:rPr lang="ru-RU" sz="3600"/>
              <a:t>Цель</a:t>
            </a:r>
            <a:r>
              <a:rPr lang="en-US" sz="3600"/>
              <a:t>:</a:t>
            </a:r>
            <a:r>
              <a:rPr lang="ru-RU" sz="3600"/>
              <a:t> </a:t>
            </a:r>
            <a:r>
              <a:rPr lang="ru-RU" sz="3600" b="0"/>
              <a:t>создать условия для формирования</a:t>
            </a:r>
            <a:br>
              <a:rPr lang="ru-RU" sz="3600" b="0"/>
            </a:br>
            <a:r>
              <a:rPr lang="ru-RU" sz="3600" b="0"/>
              <a:t>правильного отношения к своему здоровью через понятие здорового питания.</a:t>
            </a:r>
            <a:endParaRPr sz="3600" b="0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507365" y="2165985"/>
            <a:ext cx="10655935" cy="4011295"/>
          </a:xfrm>
        </p:spPr>
        <p:txBody>
          <a:bodyPr>
            <a:normAutofit/>
          </a:bodyPr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 b="1" i="1" u="sng">
                <a:solidFill>
                  <a:schemeClr val="tx1"/>
                </a:solidFill>
              </a:rPr>
              <a:t>Задачи</a:t>
            </a:r>
            <a:r>
              <a:rPr lang="en-US" b="1" i="1" u="sng">
                <a:solidFill>
                  <a:schemeClr val="tx1"/>
                </a:solidFill>
              </a:rPr>
              <a:t>:</a:t>
            </a:r>
            <a:endParaRPr lang="ru-RU" b="1" i="1" u="sng"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 b="1" i="1" u="sng">
                <a:solidFill>
                  <a:schemeClr val="tx1"/>
                </a:solidFill>
              </a:rPr>
              <a:t>1. Образовательные:</a:t>
            </a:r>
            <a:endParaRPr lang="ru-RU" b="1" i="1" u="sng"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>
                <a:solidFill>
                  <a:schemeClr val="tx1"/>
                </a:solidFill>
              </a:rPr>
              <a:t>формировать представление о правильном питании.</a:t>
            </a:r>
            <a:endParaRPr lang="ru-RU"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 b="1" i="1" u="sng">
                <a:solidFill>
                  <a:schemeClr val="tx1"/>
                </a:solidFill>
              </a:rPr>
              <a:t>2. Развивающие:</a:t>
            </a:r>
            <a:endParaRPr lang="ru-RU" b="1" i="1" u="sng"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>
                <a:solidFill>
                  <a:schemeClr val="tx1"/>
                </a:solidFill>
              </a:rPr>
              <a:t>развивать внимание, мышление, память.</a:t>
            </a:r>
            <a:endParaRPr lang="ru-RU"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en-US" b="1" i="1" u="sng">
                <a:solidFill>
                  <a:schemeClr val="tx1"/>
                </a:solidFill>
              </a:rPr>
              <a:t>3. </a:t>
            </a:r>
            <a:r>
              <a:rPr lang="ru-RU" b="1" i="1" u="sng">
                <a:solidFill>
                  <a:schemeClr val="tx1"/>
                </a:solidFill>
              </a:rPr>
              <a:t>Воспитательные</a:t>
            </a:r>
            <a:r>
              <a:rPr lang="en-US" b="1" i="1" u="sng">
                <a:solidFill>
                  <a:schemeClr val="tx1"/>
                </a:solidFill>
              </a:rPr>
              <a:t>:</a:t>
            </a:r>
            <a:endParaRPr lang="en-US" b="1" i="1" u="sng"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>
                <a:solidFill>
                  <a:schemeClr val="tx1"/>
                </a:solidFill>
              </a:rPr>
              <a:t>Вырабатывать силу воли и привычку вести здоровый образ жизни</a:t>
            </a:r>
            <a:endParaRPr lang="en-US">
              <a:solidFill>
                <a:schemeClr val="tx1"/>
              </a:solidFill>
            </a:endParaRPr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endParaRPr lang="en-US">
              <a:solidFill>
                <a:schemeClr val="tx1"/>
              </a:solidFill>
            </a:endParaRPr>
          </a:p>
          <a:p>
            <a:pPr>
              <a:defRPr/>
            </a:pPr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 flipH="0" flipV="0">
            <a:off x="2205355" y="223519"/>
            <a:ext cx="6622770" cy="1325880"/>
          </a:xfrm>
        </p:spPr>
        <p:txBody>
          <a:bodyPr/>
          <a:p>
            <a:pPr>
              <a:defRPr/>
            </a:pPr>
            <a:r>
              <a:rPr lang="ru-RU"/>
              <a:t>Примеры вредной еды</a:t>
            </a:r>
            <a:endParaRPr 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6070600" y="1979294"/>
            <a:ext cx="3874135" cy="4351655"/>
          </a:xfrm>
        </p:spPr>
        <p:txBody>
          <a:bodyPr/>
          <a:p>
            <a:pPr marL="0" indent="0">
              <a:buNone/>
              <a:defRPr/>
            </a:pPr>
            <a:r>
              <a:rPr lang="ru-RU" sz="3200">
                <a:solidFill>
                  <a:schemeClr val="tx1"/>
                </a:solidFill>
              </a:rPr>
              <a:t>1</a:t>
            </a:r>
            <a:r>
              <a:rPr lang="en-US" sz="3200">
                <a:solidFill>
                  <a:schemeClr val="tx1"/>
                </a:solidFill>
              </a:rPr>
              <a:t>.</a:t>
            </a:r>
            <a:r>
              <a:rPr lang="ru-RU" sz="3200">
                <a:solidFill>
                  <a:schemeClr val="tx1"/>
                </a:solidFill>
              </a:rPr>
              <a:t>Чипсы</a:t>
            </a:r>
            <a:endParaRPr lang="ru-RU" sz="320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3200">
                <a:solidFill>
                  <a:schemeClr val="tx1"/>
                </a:solidFill>
              </a:rPr>
              <a:t>2</a:t>
            </a:r>
            <a:r>
              <a:rPr lang="en-US" sz="3200">
                <a:solidFill>
                  <a:schemeClr val="tx1"/>
                </a:solidFill>
              </a:rPr>
              <a:t>.</a:t>
            </a:r>
            <a:r>
              <a:rPr lang="ru-RU" sz="3200">
                <a:solidFill>
                  <a:schemeClr val="tx1"/>
                </a:solidFill>
              </a:rPr>
              <a:t>Газировка</a:t>
            </a:r>
            <a:endParaRPr lang="ru-RU" sz="320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3200">
                <a:solidFill>
                  <a:schemeClr val="tx1"/>
                </a:solidFill>
              </a:rPr>
              <a:t>3.Конфеты</a:t>
            </a:r>
            <a:endParaRPr lang="ru-RU" sz="320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3200">
                <a:solidFill>
                  <a:schemeClr val="tx1"/>
                </a:solidFill>
              </a:rPr>
              <a:t>4</a:t>
            </a:r>
            <a:r>
              <a:rPr lang="en-US" sz="3200">
                <a:solidFill>
                  <a:schemeClr val="tx1"/>
                </a:solidFill>
              </a:rPr>
              <a:t>.</a:t>
            </a:r>
            <a:r>
              <a:rPr lang="ru-RU" sz="3200">
                <a:solidFill>
                  <a:schemeClr val="tx1"/>
                </a:solidFill>
              </a:rPr>
              <a:t>Фаст-фуд</a:t>
            </a:r>
            <a:endParaRPr lang="ru-RU" sz="3200">
              <a:solidFill>
                <a:schemeClr val="tx1"/>
              </a:solidFill>
            </a:endParaRPr>
          </a:p>
          <a:p>
            <a:pPr marL="0" indent="0">
              <a:buNone/>
              <a:defRPr/>
            </a:pPr>
            <a:r>
              <a:rPr lang="ru-RU" sz="3200">
                <a:solidFill>
                  <a:schemeClr val="tx1"/>
                </a:solidFill>
              </a:rPr>
              <a:t>5</a:t>
            </a:r>
            <a:r>
              <a:rPr lang="en-US" sz="3200">
                <a:solidFill>
                  <a:schemeClr val="tx1"/>
                </a:solidFill>
              </a:rPr>
              <a:t>.</a:t>
            </a:r>
            <a:r>
              <a:rPr lang="ru-RU" sz="3200">
                <a:solidFill>
                  <a:schemeClr val="tx1"/>
                </a:solidFill>
              </a:rPr>
              <a:t>Полуфабрикаты</a:t>
            </a:r>
            <a:endParaRPr lang="ru-RU" sz="3200">
              <a:solidFill>
                <a:schemeClr val="tx1"/>
              </a:solidFill>
            </a:endParaRPr>
          </a:p>
          <a:p>
            <a:pPr>
              <a:defRPr/>
            </a:pPr>
            <a:endParaRPr lang="ru-RU" sz="3200">
              <a:solidFill>
                <a:schemeClr val="tx1"/>
              </a:solidFill>
            </a:endParaRPr>
          </a:p>
        </p:txBody>
      </p:sp>
      <p:pic>
        <p:nvPicPr>
          <p:cNvPr id="5" name="Замещающее содержимое 4" descr="Снимок экрана 2026-01-21 215744"/>
          <p:cNvPicPr>
            <a:picLocks noChangeAspect="1"/>
          </p:cNvPicPr>
          <p:nvPr>
            <p:ph sz="quarter" idx="13"/>
          </p:nvPr>
        </p:nvPicPr>
        <p:blipFill>
          <a:blip r:embed="rId2"/>
          <a:stretch/>
        </p:blipFill>
        <p:spPr bwMode="auto">
          <a:xfrm>
            <a:off x="323215" y="1979294"/>
            <a:ext cx="5183505" cy="402844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 bwMode="auto">
          <a:xfrm>
            <a:off x="2489200" y="6210300"/>
            <a:ext cx="6261735" cy="5930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defRPr/>
            </a:pPr>
            <a:endParaRPr lang="ru-RU" sz="32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638040" y="205740"/>
            <a:ext cx="1918335" cy="1325880"/>
          </a:xfrm>
        </p:spPr>
        <p:txBody>
          <a:bodyPr/>
          <a:p>
            <a:pPr>
              <a:defRPr/>
            </a:pPr>
            <a:r>
              <a:rPr lang="ru-RU"/>
              <a:t>Чипсы</a:t>
            </a:r>
            <a:endParaRPr 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189865" y="1764030"/>
            <a:ext cx="5563235" cy="4680585"/>
          </a:xfrm>
        </p:spPr>
        <p:txBody>
          <a:bodyPr>
            <a:normAutofit lnSpcReduction="10000"/>
          </a:bodyPr>
          <a:p>
            <a:pPr marR="0" lvl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/>
              <a:defRPr/>
            </a:pPr>
            <a:r>
              <a:rPr lang="ru-RU">
                <a:ln>
                  <a:noFill/>
                </a:ln>
                <a:solidFill>
                  <a:schemeClr val="tx1"/>
                </a:solidFill>
                <a:latin typeface="Calibri"/>
                <a:cs typeface="Arial"/>
              </a:rPr>
              <a:t>Начать хотелось начать с                                          химического состава чипсов. Многие люди ошибочно думают, что их делают из картофеля. Когда-то это было действительно так. Но даже тогда они были достаточно вредные.</a:t>
            </a:r>
            <a:endParaRPr lang="ru-RU">
              <a:ln>
                <a:noFill/>
              </a:ln>
              <a:solidFill>
                <a:schemeClr val="tx1"/>
              </a:solidFill>
              <a:latin typeface="Calibri"/>
              <a:cs typeface="Arial"/>
            </a:endParaRPr>
          </a:p>
        </p:txBody>
      </p:sp>
      <p:pic>
        <p:nvPicPr>
          <p:cNvPr id="5" name="Замещающее содержимое 4" descr="Снимок экрана 2026-01-21 234035"/>
          <p:cNvPicPr>
            <a:picLocks noChangeAspect="1"/>
          </p:cNvPicPr>
          <p:nvPr>
            <p:ph sz="quarter" idx="14"/>
          </p:nvPr>
        </p:nvPicPr>
        <p:blipFill>
          <a:blip r:embed="rId2"/>
          <a:stretch/>
        </p:blipFill>
        <p:spPr bwMode="auto">
          <a:xfrm>
            <a:off x="5839460" y="1764030"/>
            <a:ext cx="5727700" cy="42932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248785" y="258445"/>
            <a:ext cx="1918970" cy="1325880"/>
          </a:xfrm>
        </p:spPr>
        <p:txBody>
          <a:bodyPr/>
          <a:p>
            <a:pPr>
              <a:defRPr/>
            </a:pPr>
            <a:r>
              <a:rPr lang="ru-RU"/>
              <a:t>Чипсы</a:t>
            </a:r>
            <a:endParaRPr 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/>
        <p:txBody>
          <a:bodyPr/>
          <a:p>
            <a:pPr marL="274320" marR="0" lvl="0" indent="-27432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/>
              <a:buChar char=""/>
              <a:defRPr/>
            </a:pPr>
            <a:r>
              <a:rPr lang="ru-RU">
                <a:ln>
                  <a:noFill/>
                </a:ln>
                <a:solidFill>
                  <a:schemeClr val="tx1"/>
                </a:solidFill>
              </a:rPr>
              <a:t>В состав современных чипсов (самыми популярными из которых являются «</a:t>
            </a:r>
            <a:r>
              <a:rPr lang="ru-RU">
                <a:ln>
                  <a:noFill/>
                </a:ln>
                <a:solidFill>
                  <a:schemeClr val="tx1"/>
                </a:solidFill>
              </a:rPr>
              <a:t>лейс</a:t>
            </a:r>
            <a:r>
              <a:rPr lang="ru-RU">
                <a:ln>
                  <a:noFill/>
                </a:ln>
                <a:solidFill>
                  <a:schemeClr val="tx1"/>
                </a:solidFill>
              </a:rPr>
              <a:t>», «</a:t>
            </a:r>
            <a:r>
              <a:rPr lang="ru-RU">
                <a:ln>
                  <a:noFill/>
                </a:ln>
                <a:solidFill>
                  <a:schemeClr val="tx1"/>
                </a:solidFill>
              </a:rPr>
              <a:t>принглс</a:t>
            </a:r>
            <a:r>
              <a:rPr lang="ru-RU">
                <a:ln>
                  <a:noFill/>
                </a:ln>
                <a:solidFill>
                  <a:schemeClr val="tx1"/>
                </a:solidFill>
              </a:rPr>
              <a:t>», «</a:t>
            </a:r>
            <a:r>
              <a:rPr lang="ru-RU">
                <a:ln>
                  <a:noFill/>
                </a:ln>
                <a:solidFill>
                  <a:schemeClr val="tx1"/>
                </a:solidFill>
              </a:rPr>
              <a:t>читос</a:t>
            </a:r>
            <a:r>
              <a:rPr lang="ru-RU">
                <a:ln>
                  <a:noFill/>
                </a:ln>
                <a:solidFill>
                  <a:schemeClr val="tx1"/>
                </a:solidFill>
              </a:rPr>
              <a:t>» и др.) входит, чаще всего, крахмал или смесь на его основе. Крахмал, как правило, генетически модифицированный (сделанный из сои). Попадая в организм человека, он распадается  на вредные вещества</a:t>
            </a:r>
            <a:endParaRPr lang="ru-RU">
              <a:ln>
                <a:noFill/>
              </a:ln>
              <a:solidFill>
                <a:schemeClr val="tx1"/>
              </a:solidFill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Symbol"/>
              <a:buNone/>
              <a:defRPr/>
            </a:pPr>
            <a:endParaRPr lang="ru-RU" b="0" i="0" u="none" strike="noStrike" cap="none" spc="0">
              <a:ln>
                <a:noFill/>
              </a:ln>
              <a:solidFill>
                <a:schemeClr val="tx2"/>
              </a:solidFill>
              <a:latin typeface="Calibri"/>
              <a:ea typeface="Arial"/>
              <a:cs typeface="Arial"/>
            </a:endParaRPr>
          </a:p>
          <a:p>
            <a:pPr>
              <a:defRPr/>
            </a:pPr>
            <a:endParaRPr lang="ru-RU"/>
          </a:p>
        </p:txBody>
      </p:sp>
      <p:sp>
        <p:nvSpPr>
          <p:cNvPr id="4" name="Текстовое поле 3"/>
          <p:cNvSpPr txBox="1"/>
          <p:nvPr/>
        </p:nvSpPr>
        <p:spPr bwMode="auto">
          <a:xfrm>
            <a:off x="857885" y="4491990"/>
            <a:ext cx="10304780" cy="2063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defRPr/>
            </a:pPr>
            <a:r>
              <a:rPr lang="ru-RU" sz="2800" b="1">
                <a:ln>
                  <a:noFill/>
                </a:ln>
              </a:rPr>
              <a:t>Чипсы</a:t>
            </a:r>
            <a:r>
              <a:rPr lang="ru-RU" sz="2800">
                <a:ln>
                  <a:noFill/>
                </a:ln>
              </a:rPr>
              <a:t> – это ничто иное, как смесь соли и жира, в оболочке красителей и заменителей вкуса. </a:t>
            </a:r>
            <a:endParaRPr lang="ru-RU" sz="2800" b="0" i="0" u="none" strike="noStrike" cap="none" spc="0">
              <a:ln>
                <a:noFill/>
              </a:ln>
              <a:solidFill>
                <a:schemeClr val="tx2"/>
              </a:solidFill>
              <a:latin typeface="Calibri"/>
              <a:ea typeface="Arial"/>
              <a:cs typeface="Arial"/>
            </a:endParaRPr>
          </a:p>
          <a:p>
            <a:pPr>
              <a:defRPr/>
            </a:pPr>
            <a:endParaRPr lang="ru-RU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672965" y="258445"/>
            <a:ext cx="1866900" cy="1325880"/>
          </a:xfrm>
        </p:spPr>
        <p:txBody>
          <a:bodyPr/>
          <a:p>
            <a:pPr>
              <a:defRPr/>
            </a:pPr>
            <a:r>
              <a:rPr lang="ru-RU"/>
              <a:t>Чипсы</a:t>
            </a:r>
            <a:endParaRPr 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 flipH="0" flipV="0">
            <a:off x="647699" y="1825625"/>
            <a:ext cx="4465674" cy="112712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p>
            <a:pPr>
              <a:defRPr/>
            </a:pPr>
            <a:r>
              <a:rPr lang="ru-RU" sz="2800" b="1">
                <a:ln>
                  <a:noFill/>
                </a:ln>
                <a:solidFill>
                  <a:schemeClr val="tx1"/>
                </a:solidFill>
                <a:latin typeface="Calibri Light"/>
                <a:cs typeface="Arial"/>
              </a:rPr>
              <a:t>Соль-белая смерть</a:t>
            </a:r>
            <a:endParaRPr sz="2800" b="0" i="0" u="none" strike="noStrike" cap="none" spc="0">
              <a:ln>
                <a:noFill/>
              </a:ln>
              <a:solidFill>
                <a:schemeClr val="tx1"/>
              </a:solidFill>
              <a:latin typeface="Calibri Light"/>
              <a:ea typeface="Arial"/>
              <a:cs typeface="Arial"/>
            </a:endParaRPr>
          </a:p>
          <a:p>
            <a:pPr>
              <a:defRPr/>
            </a:pPr>
            <a:endParaRPr lang="ru-RU" b="0" i="0" u="none" strike="noStrike" cap="none" spc="0">
              <a:ln>
                <a:noFill/>
              </a:ln>
              <a:solidFill>
                <a:schemeClr val="tx1"/>
              </a:solidFill>
              <a:latin typeface="Calibri Light"/>
              <a:ea typeface="Arial"/>
              <a:cs typeface="Arial"/>
            </a:endParaRPr>
          </a:p>
        </p:txBody>
      </p:sp>
      <p:sp>
        <p:nvSpPr>
          <p:cNvPr id="4" name="Текстовое поле 3"/>
          <p:cNvSpPr txBox="1"/>
          <p:nvPr/>
        </p:nvSpPr>
        <p:spPr bwMode="auto">
          <a:xfrm>
            <a:off x="379730" y="2402205"/>
            <a:ext cx="406400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ru-RU" sz="2000"/>
              <a:t>Большое количество соли, которое содержится в чипсах, привлекает многих людей. Но не стоит забывать, что избыток соли в крови приводит к торможению нормального роста костей, мышц и сухожилий, развитию сердечных заболеваний и нарушении обмена веществ.</a:t>
            </a:r>
            <a:r>
              <a:rPr lang="ru-RU"/>
              <a:t> </a:t>
            </a:r>
            <a:endParaRPr lang="ru-RU">
              <a:latin typeface="Calibri"/>
              <a:ea typeface="Arial"/>
              <a:cs typeface="Arial"/>
            </a:endParaRPr>
          </a:p>
          <a:p>
            <a:pPr>
              <a:defRPr/>
            </a:pPr>
            <a:endParaRPr lang="ru-RU"/>
          </a:p>
        </p:txBody>
      </p:sp>
      <p:sp>
        <p:nvSpPr>
          <p:cNvPr id="5" name="Текстовое поле 4"/>
          <p:cNvSpPr txBox="1"/>
          <p:nvPr/>
        </p:nvSpPr>
        <p:spPr bwMode="auto">
          <a:xfrm>
            <a:off x="7738110" y="1880235"/>
            <a:ext cx="1152250" cy="518519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defRPr/>
            </a:pPr>
            <a:r>
              <a:rPr lang="ru-RU" sz="2800" b="1"/>
              <a:t>Жиры</a:t>
            </a:r>
            <a:endParaRPr lang="ru-RU" sz="2800"/>
          </a:p>
        </p:txBody>
      </p:sp>
      <p:sp>
        <p:nvSpPr>
          <p:cNvPr id="6" name="Текстовое поле 5"/>
          <p:cNvSpPr txBox="1"/>
          <p:nvPr/>
        </p:nvSpPr>
        <p:spPr bwMode="auto">
          <a:xfrm>
            <a:off x="6873875" y="2401570"/>
            <a:ext cx="4354830" cy="19481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buSzPct val="100000"/>
              <a:defRPr/>
            </a:pPr>
            <a:r>
              <a:rPr lang="ru-RU" sz="2000"/>
              <a:t>Чипсы на 1/3 состоят из жира.</a:t>
            </a:r>
            <a:endParaRPr lang="ru-RU" sz="2000">
              <a:latin typeface="Calibri"/>
              <a:ea typeface="Arial"/>
              <a:cs typeface="Arial"/>
            </a:endParaRPr>
          </a:p>
          <a:p>
            <a:pPr>
              <a:buSzPct val="100000"/>
              <a:defRPr/>
            </a:pPr>
            <a:r>
              <a:rPr lang="ru-RU" sz="2000"/>
              <a:t>Жиры увеличивают риск возникновения заболеваний сердца и сосудов, а также ведут к ожирению. </a:t>
            </a:r>
            <a:endParaRPr lang="ru-RU" sz="2000">
              <a:latin typeface="Calibri"/>
              <a:ea typeface="Arial"/>
              <a:cs typeface="Arial"/>
            </a:endParaRPr>
          </a:p>
          <a:p>
            <a:pPr>
              <a:buSzPct val="100000"/>
              <a:defRPr/>
            </a:pPr>
            <a:r>
              <a:rPr lang="ru-RU" sz="2000"/>
              <a:t>Жир неблагоприятно влияет на кишечник, создает риск появления раковых клеток.</a:t>
            </a:r>
            <a:endParaRPr lang="ru-RU" sz="2000">
              <a:latin typeface="Calibri"/>
              <a:ea typeface="Arial"/>
              <a:cs typeface="Arial"/>
            </a:endParaRPr>
          </a:p>
          <a:p>
            <a:pPr>
              <a:defRPr/>
            </a:pP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412615" y="258445"/>
            <a:ext cx="3366770" cy="1325880"/>
          </a:xfrm>
        </p:spPr>
        <p:txBody>
          <a:bodyPr/>
          <a:p>
            <a:pPr>
              <a:defRPr/>
            </a:pPr>
            <a:r>
              <a:rPr lang="ru-RU"/>
              <a:t>Вред чипсов</a:t>
            </a:r>
            <a:endParaRPr 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647700" y="1584324"/>
            <a:ext cx="5829300" cy="4351655"/>
          </a:xfrm>
        </p:spPr>
        <p:txBody>
          <a:bodyPr>
            <a:normAutofit lnSpcReduction="10000"/>
          </a:bodyPr>
          <a:p>
            <a:pPr marL="0" indent="0">
              <a:buClr>
                <a:schemeClr val="accent1"/>
              </a:buClr>
              <a:buSzPct val="100000"/>
              <a:buFont typeface="Symbol"/>
              <a:buNone/>
              <a:defRPr/>
            </a:pPr>
            <a:r>
              <a:rPr lang="ru-RU">
                <a:solidFill>
                  <a:schemeClr val="tx1"/>
                </a:solidFill>
              </a:rPr>
              <a:t>Иногда приятно похрустеть чипсами вместе с друзьями, перед телевизором, чтобы «убить время», перебить аппетит.Чипсы привликают яркими упаковками</a:t>
            </a:r>
            <a:r>
              <a:rPr lang="en-US">
                <a:solidFill>
                  <a:schemeClr val="tx1"/>
                </a:solidFill>
              </a:rPr>
              <a:t>,</a:t>
            </a:r>
            <a:r>
              <a:rPr lang="ru-RU">
                <a:solidFill>
                  <a:schemeClr val="tx1"/>
                </a:solidFill>
              </a:rPr>
              <a:t> навязчивой рекламой и разнообразием вкусов</a:t>
            </a:r>
            <a:r>
              <a:rPr lang="en-US">
                <a:solidFill>
                  <a:schemeClr val="tx1"/>
                </a:solidFill>
              </a:rPr>
              <a:t>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Clr>
                <a:schemeClr val="accent1"/>
              </a:buClr>
              <a:buSzPct val="100000"/>
              <a:buFont typeface="Symbol"/>
              <a:buNone/>
              <a:defRPr/>
            </a:pPr>
            <a:endParaRPr lang="ru-RU">
              <a:solidFill>
                <a:schemeClr val="tx1"/>
              </a:solidFill>
            </a:endParaRPr>
          </a:p>
          <a:p>
            <a:pPr marL="0" indent="0">
              <a:buClr>
                <a:schemeClr val="accent1"/>
              </a:buClr>
              <a:buSzPct val="100000"/>
              <a:buFont typeface="Symbol"/>
              <a:buNone/>
              <a:defRPr/>
            </a:pPr>
            <a:r>
              <a:rPr lang="ru-RU">
                <a:solidFill>
                  <a:schemeClr val="tx1"/>
                </a:solidFill>
              </a:rPr>
              <a:t>Но, употребляя часто этот продукт, можно заработать аллергию, изжогу, гастрит, проблемы с желудочно-кишечным трактом.</a:t>
            </a:r>
            <a:endParaRPr lang="ru-RU"/>
          </a:p>
          <a:p>
            <a:pPr marL="0" indent="0">
              <a:buClr>
                <a:schemeClr val="accent1"/>
              </a:buClr>
              <a:buSzPct val="100000"/>
              <a:buFont typeface="Symbol"/>
              <a:buNone/>
              <a:defRPr/>
            </a:pPr>
            <a:endParaRPr lang="ru-RU"/>
          </a:p>
        </p:txBody>
      </p:sp>
      <p:pic>
        <p:nvPicPr>
          <p:cNvPr id="13316" name="Picture 2"/>
          <p:cNvPicPr>
            <a:picLocks noChangeAspect="1" noGrp="1"/>
          </p:cNvPicPr>
          <p:nvPr>
            <p:ph sz="quarter" idx="14"/>
          </p:nvPr>
        </p:nvPicPr>
        <p:blipFill>
          <a:blip r:embed="rId2"/>
          <a:stretch/>
        </p:blipFill>
        <p:spPr bwMode="auto">
          <a:xfrm>
            <a:off x="6798310" y="1584324"/>
            <a:ext cx="5147945" cy="416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1856740" y="196850"/>
            <a:ext cx="7461250" cy="1325880"/>
          </a:xfrm>
        </p:spPr>
        <p:txBody>
          <a:bodyPr/>
          <a:p>
            <a:pPr>
              <a:defRPr/>
            </a:pPr>
            <a:r>
              <a:rPr lang="ru-RU" b="1">
                <a:ln>
                  <a:noFill/>
                </a:ln>
                <a:solidFill>
                  <a:schemeClr val="tx1"/>
                </a:solidFill>
                <a:latin typeface="Calibri Light"/>
                <a:ea typeface="Arial"/>
                <a:cs typeface="Arial"/>
              </a:rPr>
              <a:t>Почему чипсы такие вкусные</a:t>
            </a:r>
            <a:endParaRPr lang="ru-RU" b="0">
              <a:ln>
                <a:noFill/>
              </a:ln>
              <a:solidFill>
                <a:schemeClr val="tx1"/>
              </a:solidFill>
              <a:latin typeface="Calibri Light"/>
              <a:ea typeface="Arial"/>
              <a:cs typeface="Arial"/>
            </a:endParaRPr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idx="1"/>
          </p:nvPr>
        </p:nvPicPr>
        <p:blipFill>
          <a:blip r:embed="rId2"/>
          <a:stretch/>
        </p:blipFill>
        <p:spPr bwMode="auto">
          <a:xfrm>
            <a:off x="7542530" y="1522730"/>
            <a:ext cx="4351655" cy="4351655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 bwMode="auto">
          <a:xfrm>
            <a:off x="452755" y="1522730"/>
            <a:ext cx="7160895" cy="51835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buSzPct val="100000"/>
              <a:defRPr/>
            </a:pPr>
            <a:r>
              <a:rPr lang="ru-RU" sz="2400"/>
              <a:t>Вкус таких чипсов далек от картофельного – на помощь приходят приправы и вкусовые добавки, в основном – глутамат натрия. Об этой «чудесной» добавке написано много, напомним, что глутамат натрия может превратить самую невкусную еду в такую, которую захочется есть снова и снова.</a:t>
            </a:r>
            <a:endParaRPr lang="ru-RU" sz="2400">
              <a:latin typeface="Calibri"/>
              <a:ea typeface="Arial"/>
              <a:cs typeface="Arial"/>
            </a:endParaRPr>
          </a:p>
          <a:p>
            <a:pPr>
              <a:buSzPct val="100000"/>
              <a:defRPr/>
            </a:pPr>
            <a:r>
              <a:rPr lang="ru-RU" sz="2400"/>
              <a:t>Мы не думаем при этом о ее действительной ценности. А производителям прежде всего нужно привлечь покупателей, о нашем здоровье они не задумываются.</a:t>
            </a:r>
            <a:endParaRPr lang="ru-RU" sz="2400">
              <a:latin typeface="Calibri"/>
              <a:ea typeface="Arial"/>
              <a:cs typeface="Arial"/>
            </a:endParaRPr>
          </a:p>
          <a:p>
            <a:pPr>
              <a:defRPr/>
            </a:pPr>
            <a:endParaRPr lang="ru-RU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3586480" y="205740"/>
            <a:ext cx="4638040" cy="1325880"/>
          </a:xfrm>
        </p:spPr>
        <p:txBody>
          <a:bodyPr/>
          <a:p>
            <a:pPr>
              <a:defRPr/>
            </a:pPr>
            <a:r>
              <a:rPr lang="ru-RU">
                <a:ln>
                  <a:noFill/>
                </a:ln>
                <a:solidFill>
                  <a:schemeClr val="tx1"/>
                </a:solidFill>
                <a:latin typeface="Calibri Light"/>
              </a:rPr>
              <a:t>Ломка без чипсов</a:t>
            </a:r>
            <a:endParaRPr lang="ru-RU">
              <a:ln>
                <a:noFill/>
              </a:ln>
              <a:solidFill>
                <a:schemeClr val="tx1"/>
              </a:solidFill>
              <a:latin typeface="Calibri Light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647700" y="2028190"/>
            <a:ext cx="10515600" cy="4351338"/>
          </a:xfrm>
        </p:spPr>
        <p:txBody>
          <a:bodyPr/>
          <a:p>
            <a:pPr>
              <a:defRPr/>
            </a:pPr>
            <a:r>
              <a:rPr lang="ru-RU">
                <a:solidFill>
                  <a:schemeClr val="tx1"/>
                </a:solidFill>
                <a:latin typeface="Calibri"/>
              </a:rPr>
              <a:t>Недавно группа ученых Принстонского университета исследовала действие продуктов с большим количеством жира и углеводов на животных и пришла к выводу – чипсы могут вызывать привыкание. Дело в том, что когда из рациона подопытных убирали калорийную пищу, у них начиналась ломка, похожая на наркотическую. Вот почему, однажды попробовав тоненькие кусочки чипсов, дети жаждут вновь и вновь похрустеть ими. Недавно чипсы включили в список продуктов, которые запрещены для продажи в образовательных учреждениях.</a:t>
            </a:r>
            <a:endParaRPr lang="ru-RU">
              <a:solidFill>
                <a:schemeClr val="tx1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4275455" y="258445"/>
            <a:ext cx="3260090" cy="1325880"/>
          </a:xfrm>
        </p:spPr>
        <p:txBody>
          <a:bodyPr/>
          <a:p>
            <a:pPr>
              <a:defRPr/>
            </a:pPr>
            <a:r>
              <a:rPr lang="ru-RU"/>
              <a:t>Вред чипсов</a:t>
            </a:r>
            <a:endParaRPr 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 bwMode="auto">
          <a:xfrm>
            <a:off x="647700" y="1825625"/>
            <a:ext cx="4824095" cy="435165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/>
              <a:t>-Лишние килограммы</a:t>
            </a:r>
            <a:endParaRPr lang="ru-RU"/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/>
              <a:t>-Аллергия</a:t>
            </a:r>
            <a:endParaRPr lang="ru-RU"/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/>
              <a:t>-Высокий уровень холестерина</a:t>
            </a:r>
            <a:endParaRPr lang="ru-RU"/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/>
              <a:t>-Сердечные заболевания</a:t>
            </a:r>
            <a:endParaRPr lang="ru-RU"/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/>
              <a:t>-Диабет и зависимость</a:t>
            </a:r>
            <a:endParaRPr lang="ru-RU"/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/>
              <a:t>-Раковые заболевания </a:t>
            </a:r>
            <a:endParaRPr lang="ru-RU"/>
          </a:p>
          <a:p>
            <a:pPr>
              <a:buClr>
                <a:schemeClr val="accent1"/>
              </a:buClr>
              <a:buSzPct val="100000"/>
              <a:buFont typeface="Symbol"/>
              <a:defRPr/>
            </a:pPr>
            <a:r>
              <a:rPr lang="ru-RU"/>
              <a:t>-Разрушение головного мозга</a:t>
            </a:r>
            <a:endParaRPr lang="ru-RU"/>
          </a:p>
          <a:p>
            <a:pPr>
              <a:defRPr/>
            </a:pPr>
            <a:endParaRPr lang="ru-RU"/>
          </a:p>
        </p:txBody>
      </p:sp>
      <p:pic>
        <p:nvPicPr>
          <p:cNvPr id="15364" name="Picture 2"/>
          <p:cNvPicPr>
            <a:picLocks noChangeAspect="1" noGrp="1"/>
          </p:cNvPicPr>
          <p:nvPr>
            <p:ph sz="quarter" idx="14"/>
          </p:nvPr>
        </p:nvPicPr>
        <p:blipFill>
          <a:blip r:embed="rId2"/>
          <a:stretch/>
        </p:blipFill>
        <p:spPr bwMode="auto">
          <a:xfrm>
            <a:off x="5939155" y="1642745"/>
            <a:ext cx="5902325" cy="4718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宽屏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/>
  <dc:identifier/>
  <dc:language/>
  <cp:lastModifiedBy>Сергей</cp:lastModifiedBy>
  <cp:revision>6</cp:revision>
  <dcterms:created xsi:type="dcterms:W3CDTF">2025-07-23T00:59:00Z</dcterms:created>
  <dcterms:modified xsi:type="dcterms:W3CDTF">2026-02-08T17:59:49Z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1049-12.2.0.23196</vt:lpwstr>
  </property>
  <property fmtid="{D5CDD505-2E9C-101B-9397-08002B2CF9AE}" pid="3" name="ICV">
    <vt:lpwstr>BF8DD7DDDD664315BF0949B27AB38FB0_11</vt:lpwstr>
  </property>
</Properties>
</file>